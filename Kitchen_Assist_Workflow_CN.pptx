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3366"/>
                </a:solidFill>
                <a:latin typeface="Microsoft YaHei"/>
              </a:rPr>
              <a:t>锅具状态检测系统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46464"/>
                </a:solidFill>
                <a:latin typeface="Microsoft YaHei"/>
              </a:rPr>
              <a:t>MobileNet v2驱动的厨房安全检测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4389120"/>
            <a:ext cx="2560320" cy="548640"/>
          </a:xfrm>
          <a:prstGeom prst="roundRect">
            <a:avLst/>
          </a:prstGeom>
          <a:solidFill>
            <a:srgbClr val="4CAF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100% 训练与验证准确率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4389120"/>
            <a:ext cx="2560320" cy="548640"/>
          </a:xfrm>
          <a:prstGeom prst="roundRect">
            <a:avLst/>
          </a:prstGeom>
          <a:solidFill>
            <a:srgbClr val="2196F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混合圆形+YOLO检测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4389120"/>
            <a:ext cx="2560320" cy="548640"/>
          </a:xfrm>
          <a:prstGeom prst="roundRect">
            <a:avLst/>
          </a:prstGeom>
          <a:solidFill>
            <a:srgbClr val="FF98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MobileNet v2 - 350万参数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  <a:latin typeface="Microsoft YaHei"/>
              </a:rPr>
              <a:t>系统工作流程概览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2476" y="1828800"/>
            <a:ext cx="2011680" cy="914400"/>
          </a:xfrm>
          <a:prstGeom prst="roundRect">
            <a:avLst/>
          </a:prstGeom>
          <a:solidFill>
            <a:srgbClr val="6495E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输入图像\n(厨房相机)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99916" y="1828800"/>
            <a:ext cx="2011680" cy="914400"/>
          </a:xfrm>
          <a:prstGeom prst="roundRect">
            <a:avLst/>
          </a:prstGeom>
          <a:solidFill>
            <a:srgbClr val="FFA5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目标检测\n(圆形+YOLO)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6" y="1828800"/>
            <a:ext cx="2011680" cy="914400"/>
          </a:xfrm>
          <a:prstGeom prst="roundRect">
            <a:avLst/>
          </a:prstGeom>
          <a:solidFill>
            <a:srgbClr val="32CD32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状态分类\n(MobileNet v2)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54796" y="1828800"/>
            <a:ext cx="2011680" cy="914400"/>
          </a:xfrm>
          <a:prstGeom prst="roundRect">
            <a:avLst/>
          </a:prstGeom>
          <a:solidFill>
            <a:srgbClr val="DC143C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输出结果\n(带标记)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4156.0" y="2286000.0"/>
            <a:ext cx="365760.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11596.0" y="2286000.0"/>
            <a:ext cx="365760.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289036.0" y="2286000.0"/>
            <a:ext cx="365760.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657600"/>
            <a:ext cx="1371600" cy="548640"/>
          </a:xfrm>
          <a:prstGeom prst="roundRect">
            <a:avLst/>
          </a:prstGeom>
          <a:solidFill>
            <a:srgbClr val="00FF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正常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3657600"/>
            <a:ext cx="1371600" cy="54864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沸腾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657600"/>
            <a:ext cx="1371600" cy="548640"/>
          </a:xfrm>
          <a:prstGeom prst="roundRect">
            <a:avLst/>
          </a:prstGeom>
          <a:solidFill>
            <a:srgbClr val="80808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冒烟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657600"/>
            <a:ext cx="1371600" cy="548640"/>
          </a:xfrm>
          <a:prstGeom prst="roundRect">
            <a:avLst/>
          </a:prstGeom>
          <a:solidFill>
            <a:srgbClr val="000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着火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16459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000000"/>
                </a:solidFill>
                <a:latin typeface="Microsoft YaHei"/>
              </a:rPr>
              <a:t>检测状态：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  <a:latin typeface="Microsoft YaHei"/>
              </a:rPr>
              <a:t>详细处理流程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366"/>
                </a:solidFill>
                <a:latin typeface="Microsoft YaHei"/>
              </a:rPr>
              <a:t>数据准备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286000" cy="7315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收集标记图像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2286000" cy="7315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数据增强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2286000" cy="7315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训练/验证分割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366"/>
                </a:solidFill>
                <a:latin typeface="Microsoft YaHei"/>
              </a:rPr>
              <a:t>模型训练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645920"/>
            <a:ext cx="228600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训练分类器\n(MobileNet v2)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2468880"/>
            <a:ext cx="2286000" cy="731520"/>
          </a:xfrm>
          <a:prstGeom prst="roundRect">
            <a:avLst/>
          </a:prstGeom>
          <a:solidFill>
            <a:srgbClr val="FFD7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评估性能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291840"/>
            <a:ext cx="2286000" cy="731520"/>
          </a:xfrm>
          <a:prstGeom prst="roundRect">
            <a:avLst/>
          </a:prstGeom>
          <a:solidFill>
            <a:srgbClr val="87CEFA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保存最佳模型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366"/>
                </a:solidFill>
                <a:latin typeface="Microsoft YaHei"/>
              </a:rPr>
              <a:t>生产预测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64592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圆形检测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46888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YOLO后备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29184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状态分类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366"/>
                </a:solidFill>
                <a:latin typeface="Microsoft YaHei"/>
              </a:rPr>
              <a:t>结果输出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1645920"/>
            <a:ext cx="2286000" cy="731520"/>
          </a:xfrm>
          <a:prstGeom prst="roundRect">
            <a:avLst/>
          </a:prstGeom>
          <a:solidFill>
            <a:srgbClr val="DDA0D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标记图像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2468880"/>
            <a:ext cx="2286000" cy="731520"/>
          </a:xfrm>
          <a:prstGeom prst="roundRect">
            <a:avLst/>
          </a:prstGeom>
          <a:solidFill>
            <a:srgbClr val="DDA0D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JSON报告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3291840"/>
            <a:ext cx="2286000" cy="731520"/>
          </a:xfrm>
          <a:prstGeom prst="roundRect">
            <a:avLst/>
          </a:prstGeom>
          <a:solidFill>
            <a:srgbClr val="DDA0D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  <a:latin typeface="Microsoft YaHei"/>
              </a:rPr>
              <a:t>性能指标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  <a:latin typeface="Microsoft YaHei"/>
              </a:rPr>
              <a:t>主要特点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icrosoft YaHei"/>
              </a:rPr>
              <a:t>🎯 混合检测\n圆形检测 + YOLO v8后备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icrosoft YaHei"/>
              </a:rPr>
              <a:t>🧠 轻量级模型\nMobileNet v2（350万参数）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icrosoft YaHei"/>
              </a:rPr>
              <a:t>📊 高准确率\n训练与验证100%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2860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icrosoft YaHei"/>
              </a:rPr>
              <a:t>🖼️ 精准线框\n紧密贴合圆形锅具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icrosoft YaHei"/>
              </a:rPr>
              <a:t>🎨 颜色优化\n保留关键颜色特征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icrosoft YaHei"/>
              </a:rPr>
              <a:t>⚡ 快速推理\n针对边缘设备优化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  <a:latin typeface="Microsoft YaHei"/>
              </a:rPr>
              <a:t>性能结果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4CAF50"/>
                </a:solidFill>
                <a:latin typeface="Microsoft YaHei"/>
              </a:rPr>
              <a:t>训练准确率：100%（40/40张图像）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196F3"/>
                </a:solidFill>
                <a:latin typeface="Microsoft YaHei"/>
              </a:rPr>
              <a:t>验证准确率：100%（4/4张图像）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3832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3C3C"/>
                </a:solidFill>
                <a:latin typeface="Microsoft YaHei"/>
              </a:rPr>
              <a:t>模型：MobileNet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8404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3C3C"/>
                </a:solidFill>
                <a:latin typeface="Microsoft YaHei"/>
              </a:rPr>
              <a:t>参数：350万（比ResNet18少68%）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2976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3C3C"/>
                </a:solidFill>
                <a:latin typeface="Microsoft YaHei"/>
              </a:rPr>
              <a:t>训练：200轮，批次大小4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7548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3C3C"/>
                </a:solidFill>
                <a:latin typeface="Microsoft YaHei"/>
              </a:rPr>
              <a:t>检测：混合圆形+YOLO方法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3366"/>
                </a:solidFill>
                <a:latin typeface="Microsoft YaHei"/>
              </a:rPr>
              <a:t>最新预测结果：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52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C3C3C"/>
                </a:solidFill>
                <a:latin typeface="Microsoft YaHei"/>
              </a:rPr>
              <a:t>cooking-pot_normal_01.jpg: 正常 (置信度: 0.362)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  <a:latin typeface="Microsoft YaHei"/>
              </a:rPr>
              <a:t>标记检测结果</a:t>
            </a:r>
          </a:p>
        </p:txBody>
      </p:sp>
      <p:pic>
        <p:nvPicPr>
          <p:cNvPr id="3" name="Picture 2" descr="cooking-pot_normal_01_mark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725337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5204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  <a:latin typeface="Microsoft YaHei"/>
              </a:rPr>
              <a:t>cooking-pot normal 01</a:t>
            </a:r>
          </a:p>
        </p:txBody>
      </p:sp>
      <p:pic>
        <p:nvPicPr>
          <p:cNvPr id="5" name="Picture 4" descr="frying-pan_boiling_01_mark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097280"/>
            <a:ext cx="2725337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35204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  <a:latin typeface="Microsoft YaHei"/>
              </a:rPr>
              <a:t>frying-pan boiling 01</a:t>
            </a:r>
          </a:p>
        </p:txBody>
      </p:sp>
      <p:pic>
        <p:nvPicPr>
          <p:cNvPr id="7" name="Picture 6" descr="frying-pan_on-fire_01_mark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272533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  <a:latin typeface="Microsoft YaHei"/>
              </a:rPr>
              <a:t>frying-pan on-fire 01</a:t>
            </a:r>
          </a:p>
        </p:txBody>
      </p:sp>
      <p:pic>
        <p:nvPicPr>
          <p:cNvPr id="9" name="Picture 8" descr="frying-pan_smoking_01_mark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3840480"/>
            <a:ext cx="2725337" cy="2377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0" y="62636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  <a:latin typeface="Microsoft YaHei"/>
              </a:rPr>
              <a:t>frying-pan smoking 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