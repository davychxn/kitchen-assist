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1" r:id="rId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3366"/>
                </a:solidFill>
                <a:latin typeface="微软雅黑" panose="020B0503020204020204" charset="-122"/>
              </a:rPr>
              <a:t>锅具状态检测系统</a:t>
            </a:r>
            <a:endParaRPr sz="4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646464"/>
                </a:solidFill>
                <a:latin typeface="微软雅黑" panose="020B0503020204020204" charset="-122"/>
              </a:rPr>
              <a:t>MobileNet v2驱动的厨房安全检测</a:t>
            </a:r>
            <a:endParaRPr sz="2400">
              <a:solidFill>
                <a:srgbClr val="646464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28800" y="4389120"/>
            <a:ext cx="2560320" cy="54864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100% 训练与验证准确率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54880" y="4389120"/>
            <a:ext cx="2560320" cy="54864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混合圆形+YOLO检测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80960" y="4389120"/>
            <a:ext cx="2560320" cy="54864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MobileNet v2 - 350万参数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  <a:latin typeface="微软雅黑" panose="020B0503020204020204" charset="-122"/>
              </a:rPr>
              <a:t>系统工作流程概览</a:t>
            </a:r>
            <a:endParaRPr sz="3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1522476" y="1828800"/>
            <a:ext cx="2011680" cy="914400"/>
          </a:xfrm>
          <a:prstGeom prst="roundRect">
            <a:avLst/>
          </a:prstGeom>
          <a:solidFill>
            <a:srgbClr val="6495E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输入图像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(厨房相机)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3899916" y="1828800"/>
            <a:ext cx="2011680" cy="914400"/>
          </a:xfrm>
          <a:prstGeom prst="roundRect">
            <a:avLst/>
          </a:prstGeom>
          <a:solidFill>
            <a:srgbClr val="FFA5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</a:rPr>
              <a:t>锅具范围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检测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(圆形+YOLO)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6277356" y="1828800"/>
            <a:ext cx="2011680" cy="914400"/>
          </a:xfrm>
          <a:prstGeom prst="roundRect">
            <a:avLst/>
          </a:prstGeom>
          <a:solidFill>
            <a:srgbClr val="32CD32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</a:rPr>
              <a:t>锅具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状态分类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(MobileNet v2)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>
          <a:xfrm>
            <a:off x="8654796" y="1828800"/>
            <a:ext cx="2011680" cy="914400"/>
          </a:xfrm>
          <a:prstGeom prst="roundRect">
            <a:avLst/>
          </a:prstGeom>
          <a:solidFill>
            <a:srgbClr val="DC143C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输出结果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(带标记)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>
            <p:custDataLst>
              <p:tags r:id="rId5"/>
            </p:custDataLst>
          </p:nvPr>
        </p:nvCxnSpPr>
        <p:spPr>
          <a:xfrm>
            <a:off x="3534156" y="228600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>
            <p:custDataLst>
              <p:tags r:id="rId6"/>
            </p:custDataLst>
          </p:nvPr>
        </p:nvCxnSpPr>
        <p:spPr>
          <a:xfrm>
            <a:off x="5911596" y="228600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>
            <p:custDataLst>
              <p:tags r:id="rId7"/>
            </p:custDataLst>
          </p:nvPr>
        </p:nvCxnSpPr>
        <p:spPr>
          <a:xfrm>
            <a:off x="8289036" y="228600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2286000" y="3657600"/>
            <a:ext cx="1371600" cy="548640"/>
          </a:xfrm>
          <a:prstGeom prst="roundRect">
            <a:avLst/>
          </a:prstGeom>
          <a:solidFill>
            <a:srgbClr val="00FF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正常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9"/>
            </p:custDataLst>
          </p:nvPr>
        </p:nvSpPr>
        <p:spPr>
          <a:xfrm>
            <a:off x="4114800" y="3657600"/>
            <a:ext cx="1371600" cy="548640"/>
          </a:xfrm>
          <a:prstGeom prst="roundRect">
            <a:avLst/>
          </a:prstGeom>
          <a:solidFill>
            <a:srgbClr val="FFFF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沸腾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10"/>
            </p:custDataLst>
          </p:nvPr>
        </p:nvSpPr>
        <p:spPr>
          <a:xfrm>
            <a:off x="5943600" y="3657600"/>
            <a:ext cx="1371600" cy="548640"/>
          </a:xfrm>
          <a:prstGeom prst="roundRect">
            <a:avLst/>
          </a:prstGeom>
          <a:solidFill>
            <a:srgbClr val="80808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冒烟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11"/>
            </p:custDataLst>
          </p:nvPr>
        </p:nvSpPr>
        <p:spPr>
          <a:xfrm>
            <a:off x="7772400" y="3657600"/>
            <a:ext cx="1371600" cy="548640"/>
          </a:xfrm>
          <a:prstGeom prst="roundRect">
            <a:avLst/>
          </a:prstGeom>
          <a:solidFill>
            <a:srgbClr val="000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着火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检测状态：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  <a:latin typeface="微软雅黑" panose="020B0503020204020204" charset="-122"/>
              </a:rPr>
              <a:t>详细处理流程</a:t>
            </a:r>
            <a:endParaRPr sz="3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  <a:latin typeface="微软雅黑" panose="020B0503020204020204" charset="-122"/>
              </a:rPr>
              <a:t>数据准备</a:t>
            </a:r>
            <a:endParaRPr sz="16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7315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收集标记图像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286000" cy="7315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数据增强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2286000" cy="73152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训练/验证分割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378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  <a:latin typeface="微软雅黑" panose="020B0503020204020204" charset="-122"/>
              </a:rPr>
              <a:t>模型训练</a:t>
            </a:r>
            <a:endParaRPr sz="16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73780" y="1645920"/>
            <a:ext cx="2286000" cy="731520"/>
          </a:xfrm>
          <a:prstGeom prst="roundRect">
            <a:avLst/>
          </a:prstGeom>
          <a:solidFill>
            <a:srgbClr val="90EE9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训练分类器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(MobileNet v2)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73780" y="2468880"/>
            <a:ext cx="2286000" cy="731520"/>
          </a:xfrm>
          <a:prstGeom prst="roundRect">
            <a:avLst/>
          </a:prstGeom>
          <a:solidFill>
            <a:srgbClr val="FFD7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评估性能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73780" y="3291840"/>
            <a:ext cx="2286000" cy="731520"/>
          </a:xfrm>
          <a:prstGeom prst="roundRect">
            <a:avLst/>
          </a:prstGeom>
          <a:solidFill>
            <a:srgbClr val="87CEFA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保存最佳模型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7794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  <a:latin typeface="微软雅黑" panose="020B0503020204020204" charset="-122"/>
              </a:rPr>
              <a:t>生产预测</a:t>
            </a:r>
            <a:endParaRPr sz="16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77940" y="1645920"/>
            <a:ext cx="2286000" cy="731520"/>
          </a:xfrm>
          <a:prstGeom prst="roundRect">
            <a:avLst/>
          </a:prstGeom>
          <a:solidFill>
            <a:srgbClr val="FFB6C1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圆形检测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77940" y="2468880"/>
            <a:ext cx="2286000" cy="731520"/>
          </a:xfrm>
          <a:prstGeom prst="roundRect">
            <a:avLst/>
          </a:prstGeom>
          <a:solidFill>
            <a:srgbClr val="FFB6C1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YOLO后备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77940" y="3291840"/>
            <a:ext cx="2286000" cy="731520"/>
          </a:xfrm>
          <a:prstGeom prst="roundRect">
            <a:avLst/>
          </a:prstGeom>
          <a:solidFill>
            <a:srgbClr val="FFB6C1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状态分类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48775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  <a:latin typeface="微软雅黑" panose="020B0503020204020204" charset="-122"/>
              </a:rPr>
              <a:t>结果输出</a:t>
            </a:r>
            <a:endParaRPr sz="16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248775" y="1645920"/>
            <a:ext cx="2286000" cy="731520"/>
          </a:xfrm>
          <a:prstGeom prst="roundRect">
            <a:avLst/>
          </a:prstGeom>
          <a:solidFill>
            <a:srgbClr val="DDA0D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标记图像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248775" y="2468880"/>
            <a:ext cx="2286000" cy="731520"/>
          </a:xfrm>
          <a:prstGeom prst="roundRect">
            <a:avLst/>
          </a:prstGeom>
          <a:solidFill>
            <a:srgbClr val="DDA0D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JSON报告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48775" y="3291840"/>
            <a:ext cx="2286000" cy="731520"/>
          </a:xfrm>
          <a:prstGeom prst="roundRect">
            <a:avLst/>
          </a:prstGeom>
          <a:solidFill>
            <a:srgbClr val="DDA0D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 panose="020B0503020204020204" charset="-122"/>
              </a:rPr>
              <a:t>性能指标</a:t>
            </a:r>
            <a:endParaRPr sz="1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  <a:latin typeface="微软雅黑" panose="020B0503020204020204" charset="-122"/>
              </a:rPr>
              <a:t>主要特点</a:t>
            </a:r>
            <a:endParaRPr sz="3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8473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🎯 混合检测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圆形检测 + YOLO v8后备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332486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🧠 轻量级模型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MobileNet v2（350万参数）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196786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📊 高准确率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训练与验证100%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0218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🖼️ 精准线框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紧密贴合圆形锅具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20218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🎨 颜色优化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保留关键颜色特征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20218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⚡ 快速推理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  <a:p>
            <a:r>
              <a:rPr sz="1800" b="1">
                <a:solidFill>
                  <a:srgbClr val="003366"/>
                </a:solidFill>
                <a:latin typeface="微软雅黑" panose="020B0503020204020204" charset="-122"/>
              </a:rPr>
              <a:t>针对边缘设备优化</a:t>
            </a:r>
            <a:endParaRPr sz="18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69816" y="274320"/>
            <a:ext cx="3449320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3200" b="1">
                <a:solidFill>
                  <a:srgbClr val="003366"/>
                </a:solidFill>
              </a:rPr>
              <a:t>模型预测性能结果</a:t>
            </a:r>
            <a:endParaRPr lang="zh-CN" altLang="en-US" sz="3200" b="1">
              <a:solidFill>
                <a:srgbClr val="003366"/>
              </a:solidFill>
            </a:endParaRPr>
          </a:p>
          <a:p>
            <a:pPr algn="ctr"/>
            <a:endParaRPr lang="zh-CN" altLang="en-US" sz="3200" b="1">
              <a:solidFill>
                <a:srgbClr val="00336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10972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</a:rPr>
              <a:t>训练准确率</a:t>
            </a:r>
            <a:endParaRPr lang="zh-CN" altLang="en-US" sz="1600" b="1">
              <a:solidFill>
                <a:srgbClr val="FFFFFF"/>
              </a:solidFill>
            </a:endParaRPr>
          </a:p>
          <a:p>
            <a:pPr algn="ctr"/>
            <a:r>
              <a:rPr sz="4800" b="1">
                <a:solidFill>
                  <a:srgbClr val="FFFFFF"/>
                </a:solidFill>
              </a:rPr>
              <a:t>100%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840480" y="1097280"/>
            <a:ext cx="3657600" cy="10972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</a:rPr>
              <a:t>模型</a:t>
            </a:r>
            <a:endParaRPr lang="zh-CN" altLang="en-US" sz="1600" b="1">
              <a:solidFill>
                <a:srgbClr val="FFFFFF"/>
              </a:solidFill>
            </a:endParaRPr>
          </a:p>
          <a:p>
            <a:pPr algn="ctr"/>
            <a:r>
              <a:rPr sz="2400" b="1">
                <a:solidFill>
                  <a:srgbClr val="FFFFFF"/>
                </a:solidFill>
              </a:rPr>
              <a:t>MobileNet v2</a:t>
            </a:r>
            <a:endParaRPr sz="2400" b="1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~3.5M</a:t>
            </a:r>
            <a:r>
              <a:rPr lang="zh-CN" altLang="en-US" sz="1400">
                <a:solidFill>
                  <a:srgbClr val="FFFFFF"/>
                </a:solidFill>
              </a:rPr>
              <a:t>参数</a:t>
            </a:r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63840" y="1097280"/>
            <a:ext cx="3200400" cy="10972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</a:rPr>
              <a:t>验证准确率</a:t>
            </a:r>
            <a:endParaRPr lang="zh-CN" altLang="en-US" sz="1600" b="1">
              <a:solidFill>
                <a:srgbClr val="FFFFFF"/>
              </a:solidFill>
            </a:endParaRPr>
          </a:p>
          <a:p>
            <a:pPr algn="ctr"/>
            <a:r>
              <a:rPr sz="3600" b="1">
                <a:solidFill>
                  <a:srgbClr val="FFFFFF"/>
                </a:solidFill>
              </a:rPr>
              <a:t>100% (4/4)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5621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1800" b="1">
                <a:solidFill>
                  <a:srgbClr val="003366"/>
                </a:solidFill>
              </a:rPr>
              <a:t>最新预测结果</a:t>
            </a:r>
            <a:endParaRPr lang="zh-CN" altLang="en-US" sz="1800" b="1">
              <a:solidFill>
                <a:srgbClr val="00336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cooking-pot_normal_01.jpg</a:t>
            </a:r>
            <a:endParaRPr sz="110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4114800" y="2925445"/>
            <a:ext cx="871220" cy="275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zh-CN" sz="1200" b="1"/>
              <a:t>预测</a:t>
            </a:r>
            <a:r>
              <a:rPr sz="1200" b="1"/>
              <a:t>: </a:t>
            </a:r>
            <a:r>
              <a:rPr lang="zh-CN" sz="1200" b="1"/>
              <a:t>安全</a:t>
            </a:r>
            <a:endParaRPr lang="zh-CN" sz="1200" b="1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126480" y="28346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36.2%</a:t>
            </a:r>
            <a:endParaRPr sz="1200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680960" y="28346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  <a:endParaRPr sz="2000" b="1">
              <a:solidFill>
                <a:srgbClr val="4CAF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frying-pan_boiling_01.jpg</a:t>
            </a:r>
            <a:endParaRPr sz="1100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4114800" y="3474085"/>
            <a:ext cx="871220" cy="275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zh-CN" altLang="en-US" sz="1200" b="1"/>
              <a:t>预测</a:t>
            </a:r>
            <a:r>
              <a:rPr sz="1200" b="1"/>
              <a:t>: </a:t>
            </a:r>
            <a:r>
              <a:rPr lang="zh-CN" sz="1200" b="1"/>
              <a:t>开锅</a:t>
            </a:r>
            <a:endParaRPr lang="zh-CN" sz="1200" b="1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6126480" y="338328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66.5%</a:t>
            </a:r>
            <a:endParaRPr sz="1200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7680960" y="338328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  <a:endParaRPr sz="2000" b="1">
              <a:solidFill>
                <a:srgbClr val="4CAF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frying-pan_on-fire_01.jpg</a:t>
            </a:r>
            <a:endParaRPr sz="1100"/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4114800" y="4022725"/>
            <a:ext cx="871220" cy="275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zh-CN" altLang="en-US" sz="1200" b="1"/>
              <a:t>预测</a:t>
            </a:r>
            <a:r>
              <a:rPr sz="1200" b="1"/>
              <a:t>: </a:t>
            </a:r>
            <a:r>
              <a:rPr lang="zh-CN" sz="1200" b="1"/>
              <a:t>着火</a:t>
            </a:r>
            <a:endParaRPr lang="zh-CN" sz="1200" b="1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6126480" y="393192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54.3%</a:t>
            </a:r>
            <a:endParaRPr sz="1200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7680960" y="39319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  <a:endParaRPr sz="2000" b="1">
              <a:solidFill>
                <a:srgbClr val="4CAF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frying-pan_smoking_01.jpg</a:t>
            </a:r>
            <a:endParaRPr sz="1100"/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4114800" y="4571365"/>
            <a:ext cx="871220" cy="2755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zh-CN" altLang="en-US" sz="1200" b="1"/>
              <a:t>预测</a:t>
            </a:r>
            <a:r>
              <a:rPr sz="1200" b="1"/>
              <a:t>: </a:t>
            </a:r>
            <a:r>
              <a:rPr lang="zh-CN" sz="1200" b="1"/>
              <a:t>冒烟</a:t>
            </a:r>
            <a:endParaRPr lang="zh-CN" sz="1200" b="1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6126480" y="448056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42.8%</a:t>
            </a:r>
            <a:endParaRPr sz="1200"/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7680960" y="448056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  <a:endParaRPr sz="2000" b="1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  <a:latin typeface="微软雅黑" panose="020B0503020204020204" charset="-122"/>
              </a:rPr>
              <a:t>标记检测结果</a:t>
            </a:r>
            <a:endParaRPr sz="3200" b="1">
              <a:solidFill>
                <a:srgbClr val="003366"/>
              </a:solidFill>
              <a:latin typeface="微软雅黑" panose="020B0503020204020204" charset="-122"/>
            </a:endParaRPr>
          </a:p>
        </p:txBody>
      </p:sp>
      <p:pic>
        <p:nvPicPr>
          <p:cNvPr id="3" name="Picture 2" descr="cooking-pot_normal_01_marke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2725337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5204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  <a:latin typeface="微软雅黑" panose="020B0503020204020204" charset="-122"/>
              </a:rPr>
              <a:t>cooking-pot normal 01</a:t>
            </a:r>
            <a:endParaRPr sz="10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frying-pan_boiling_01_mark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2725337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35204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  <a:latin typeface="微软雅黑" panose="020B0503020204020204" charset="-122"/>
              </a:rPr>
              <a:t>frying-pan boiling 01</a:t>
            </a:r>
            <a:endParaRPr sz="10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frying-pan_on-fire_01_mark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272533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  <a:latin typeface="微软雅黑" panose="020B0503020204020204" charset="-122"/>
              </a:rPr>
              <a:t>frying-pan on-fire 01</a:t>
            </a:r>
            <a:endParaRPr sz="10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  <p:pic>
        <p:nvPicPr>
          <p:cNvPr id="9" name="Picture 8" descr="frying-pan_smoking_01_mark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40480"/>
            <a:ext cx="2725337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62636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  <a:latin typeface="微软雅黑" panose="020B0503020204020204" charset="-122"/>
              </a:rPr>
              <a:t>frying-pan smoking 01</a:t>
            </a:r>
            <a:endParaRPr sz="10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2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3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4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5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6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7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8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9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10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11.xml><?xml version="1.0" encoding="utf-8"?>
<p:tagLst xmlns:p="http://schemas.openxmlformats.org/presentationml/2006/main">
  <p:tag name="KSO_WM_DIAGRAM_VIRTUALLY_FRAME" val="{&quot;height&quot;:187.2,&quot;left&quot;:119.88,&quot;top&quot;:144,&quot;width&quot;:719.9999999999999}"/>
</p:tagLst>
</file>

<file path=ppt/tags/tag12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3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4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5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6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7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8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19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20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21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22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ags/tag23.xml><?xml version="1.0" encoding="utf-8"?>
<p:tagLst xmlns:p="http://schemas.openxmlformats.org/presentationml/2006/main">
  <p:tag name="KSO_WM_DIAGRAM_VIRTUALLY_FRAME" val="{&quot;height&quot;:165.6,&quot;left&quot;:324,&quot;top&quot;:223.2,&quot;width&quot;:3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WPS 演示</Application>
  <PresentationFormat>On-screen Show (4:3)</PresentationFormat>
  <Paragraphs>146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Davy Chen</cp:lastModifiedBy>
  <cp:revision>17</cp:revision>
  <dcterms:created xsi:type="dcterms:W3CDTF">2013-01-27T09:14:00Z</dcterms:created>
  <dcterms:modified xsi:type="dcterms:W3CDTF">2025-12-06T13:05:03Z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91986D3309A24A44BC945C3DD32674CC_12</vt:lpwstr>
  </property>
  <property fmtid="{D5CDD505-2E9C-101B-9397-08002B2CF9AE}" pid="3" name="KSOProductBuildVer">
    <vt:lpwstr>2052-12.1.0.24034</vt:lpwstr>
  </property>
</Properties>
</file>