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3366"/>
                </a:solidFill>
              </a:rPr>
              <a:t>Pan/Pot State Detection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646464"/>
                </a:solidFill>
              </a:rPr>
              <a:t>AI-Powered Kitchen Safety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</a:rPr>
              <a:t>System Workflow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28800"/>
            <a:ext cx="2011680" cy="914400"/>
          </a:xfrm>
          <a:prstGeom prst="roundRect">
            <a:avLst/>
          </a:prstGeom>
          <a:solidFill>
            <a:srgbClr val="6495E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Input Image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(Kitchen Camera)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828800"/>
            <a:ext cx="2011680" cy="914400"/>
          </a:xfrm>
          <a:prstGeom prst="roundRect">
            <a:avLst/>
          </a:prstGeom>
          <a:solidFill>
            <a:srgbClr val="FFA50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Object Detection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(YOLO v8)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0"/>
            <a:ext cx="2011680" cy="914400"/>
          </a:xfrm>
          <a:prstGeom prst="roundRect">
            <a:avLst/>
          </a:prstGeom>
          <a:solidFill>
            <a:srgbClr val="32CD32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State Classification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(ResNet50)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0" y="1828800"/>
            <a:ext cx="2011680" cy="914400"/>
          </a:xfrm>
          <a:prstGeom prst="roundRect">
            <a:avLst/>
          </a:prstGeom>
          <a:solidFill>
            <a:srgbClr val="DC143C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Output Result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(with Marking)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6080" y="2286000.0"/>
            <a:ext cx="2560320" cy="0.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498080" y="2286000.0"/>
            <a:ext cx="2560320" cy="0.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070080" y="2286000.0"/>
            <a:ext cx="2560320" cy="0.0"/>
          </a:xfrm>
          <a:prstGeom prst="line">
            <a:avLst/>
          </a:prstGeom>
          <a:ln w="254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86000" y="3657600"/>
            <a:ext cx="1371600" cy="548640"/>
          </a:xfrm>
          <a:prstGeom prst="roundRect">
            <a:avLst/>
          </a:prstGeom>
          <a:solidFill>
            <a:srgbClr val="00FF0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Normal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3657600"/>
            <a:ext cx="1371600" cy="54864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Boiling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657600"/>
            <a:ext cx="1371600" cy="548640"/>
          </a:xfrm>
          <a:prstGeom prst="roundRect">
            <a:avLst/>
          </a:prstGeom>
          <a:solidFill>
            <a:srgbClr val="80808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Smoking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657600"/>
            <a:ext cx="1371600" cy="548640"/>
          </a:xfrm>
          <a:prstGeom prst="roundRect">
            <a:avLst/>
          </a:prstGeom>
          <a:solidFill>
            <a:srgbClr val="000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On Fire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164592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400" b="1">
                <a:solidFill>
                  <a:srgbClr val="000000"/>
                </a:solidFill>
              </a:rPr>
              <a:t>Detected States: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</a:rPr>
              <a:t>Detailed 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03366"/>
                </a:solidFill>
              </a:rPr>
              <a:t>Data Preparation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286000" cy="731520"/>
          </a:xfrm>
          <a:prstGeom prst="roundRect">
            <a:avLst/>
          </a:prstGeom>
          <a:solidFill>
            <a:srgbClr val="B0C4DE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Collect Images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2286000" cy="731520"/>
          </a:xfrm>
          <a:prstGeom prst="roundRect">
            <a:avLst/>
          </a:prstGeom>
          <a:solidFill>
            <a:srgbClr val="B0C4DE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Manual Crop</a:t>
            </a:r>
          </a:p>
          <a:p>
            <a:pPr algn="ctr"/>
            <a:r>
              <a:rPr sz="1400" b="1">
                <a:solidFill>
                  <a:srgbClr val="000000"/>
                </a:solidFill>
              </a:rPr>
              <a:t>(manual_crop.py)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2286000" cy="731520"/>
          </a:xfrm>
          <a:prstGeom prst="roundRect">
            <a:avLst/>
          </a:prstGeom>
          <a:solidFill>
            <a:srgbClr val="B0C4DE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Label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06600"/>
                </a:solidFill>
              </a:rPr>
              <a:t>Model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645920"/>
            <a:ext cx="2286000" cy="731520"/>
          </a:xfrm>
          <a:prstGeom prst="roundRect">
            <a:avLst/>
          </a:prstGeom>
          <a:solidFill>
            <a:srgbClr val="90EE9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Data Augmentation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468880"/>
            <a:ext cx="2286000" cy="731520"/>
          </a:xfrm>
          <a:prstGeom prst="roundRect">
            <a:avLst/>
          </a:prstGeom>
          <a:solidFill>
            <a:srgbClr val="90EE9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Train Classifier</a:t>
            </a:r>
          </a:p>
          <a:p>
            <a:pPr algn="ctr"/>
            <a:r>
              <a:rPr sz="1400" b="1">
                <a:solidFill>
                  <a:srgbClr val="000000"/>
                </a:solidFill>
              </a:rPr>
              <a:t>(train_classifier.py)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3291840"/>
            <a:ext cx="2286000" cy="731520"/>
          </a:xfrm>
          <a:prstGeom prst="roundRect">
            <a:avLst/>
          </a:prstGeom>
          <a:solidFill>
            <a:srgbClr val="90EE90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Model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188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660000"/>
                </a:solidFill>
              </a:rPr>
              <a:t>Prediction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645920"/>
            <a:ext cx="2286000" cy="731520"/>
          </a:xfrm>
          <a:prstGeom prst="roundRect">
            <a:avLst/>
          </a:prstGeom>
          <a:solidFill>
            <a:srgbClr val="FFB6C1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Load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468880"/>
            <a:ext cx="2286000" cy="731520"/>
          </a:xfrm>
          <a:prstGeom prst="roundRect">
            <a:avLst/>
          </a:prstGeom>
          <a:solidFill>
            <a:srgbClr val="FFB6C1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YOLO Detection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291840"/>
            <a:ext cx="2286000" cy="731520"/>
          </a:xfrm>
          <a:prstGeom prst="roundRect">
            <a:avLst/>
          </a:prstGeom>
          <a:solidFill>
            <a:srgbClr val="FFB6C1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State Prediction</a:t>
            </a:r>
          </a:p>
          <a:p>
            <a:pPr algn="ctr"/>
            <a:r>
              <a:rPr sz="1400" b="1">
                <a:solidFill>
                  <a:srgbClr val="000000"/>
                </a:solidFill>
              </a:rPr>
              <a:t>(predict_veri.py)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5029200"/>
            <a:ext cx="2286000" cy="731520"/>
          </a:xfrm>
          <a:prstGeom prst="roundRect">
            <a:avLst/>
          </a:prstGeom>
          <a:solidFill>
            <a:srgbClr val="DDA0D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Evaluation</a:t>
            </a:r>
          </a:p>
          <a:p>
            <a:pPr algn="ctr"/>
            <a:r>
              <a:rPr sz="1400" b="1">
                <a:solidFill>
                  <a:srgbClr val="000000"/>
                </a:solidFill>
              </a:rPr>
              <a:t>(evaluate_classifier.py)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</a:rPr>
              <a:t>Key Features &amp; Capabilities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🎯 Automatic Detection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YOLO v8 for pan/pot localization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🧠 Deep Learning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ResNet50 transfer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8328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📊 High Accuracy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100% on verification 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🖼️ Visual Feedback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Green wireframe marking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⚡ Real-time Ready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Optimized inference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383280"/>
            <a:ext cx="4572000" cy="82296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03366"/>
                </a:solidFill>
              </a:rPr>
              <a:t>📈 Continuous Learning</a:t>
            </a:r>
          </a:p>
          <a:p>
            <a:pPr algn="l"/>
            <a:r>
              <a:rPr sz="1300">
                <a:solidFill>
                  <a:srgbClr val="3C3C3C"/>
                </a:solidFill>
              </a:rPr>
              <a:t>Easy retraining workflow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