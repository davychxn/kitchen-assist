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3366"/>
                </a:solidFill>
              </a:rPr>
              <a:t>Pan/Pot State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646464"/>
                </a:solidFill>
              </a:rPr>
              <a:t>MobileNet v2 Powered Kitchen Safety Detection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4389120"/>
            <a:ext cx="2286000" cy="548640"/>
          </a:xfrm>
          <a:prstGeom prst="roundRect">
            <a:avLst/>
          </a:prstGeom>
          <a:solidFill>
            <a:srgbClr val="4CAF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100% Training Accuracy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4389120"/>
            <a:ext cx="2286000" cy="548640"/>
          </a:xfrm>
          <a:prstGeom prst="roundRect">
            <a:avLst/>
          </a:prstGeom>
          <a:solidFill>
            <a:srgbClr val="2196F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MobileNet v2 - 3.5M Params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4389120"/>
            <a:ext cx="2286000" cy="548640"/>
          </a:xfrm>
          <a:prstGeom prst="roundRect">
            <a:avLst/>
          </a:prstGeom>
          <a:solidFill>
            <a:srgbClr val="FF98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Color-Optimized Detection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</a:rPr>
              <a:t>System Workflow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22476" y="1828800"/>
            <a:ext cx="2011680" cy="914400"/>
          </a:xfrm>
          <a:prstGeom prst="roundRect">
            <a:avLst/>
          </a:prstGeom>
          <a:solidFill>
            <a:srgbClr val="6495E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Input Image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(Kitchen Camera)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99916" y="1828800"/>
            <a:ext cx="2011680" cy="914400"/>
          </a:xfrm>
          <a:prstGeom prst="roundRect">
            <a:avLst/>
          </a:prstGeom>
          <a:solidFill>
            <a:srgbClr val="FFA50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Object Detection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(YOLO v8)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7356" y="1828800"/>
            <a:ext cx="2011680" cy="914400"/>
          </a:xfrm>
          <a:prstGeom prst="roundRect">
            <a:avLst/>
          </a:prstGeom>
          <a:solidFill>
            <a:srgbClr val="32CD32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State Classification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(MobileNet v2)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54796" y="1828800"/>
            <a:ext cx="2011680" cy="914400"/>
          </a:xfrm>
          <a:prstGeom prst="roundRect">
            <a:avLst/>
          </a:prstGeom>
          <a:solidFill>
            <a:srgbClr val="DC143C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Output Result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(with Marking)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4156.0" y="2286000.0"/>
            <a:ext cx="365760.0" cy="0.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11596.0" y="2286000.0"/>
            <a:ext cx="365760.0" cy="0.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289036.0" y="2286000.0"/>
            <a:ext cx="365760.0" cy="0.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86000" y="3657600"/>
            <a:ext cx="1371600" cy="548640"/>
          </a:xfrm>
          <a:prstGeom prst="roundRect">
            <a:avLst/>
          </a:prstGeom>
          <a:solidFill>
            <a:srgbClr val="00FF0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Normal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3657600"/>
            <a:ext cx="1371600" cy="54864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Boiling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657600"/>
            <a:ext cx="1371600" cy="548640"/>
          </a:xfrm>
          <a:prstGeom prst="roundRect">
            <a:avLst/>
          </a:prstGeom>
          <a:solidFill>
            <a:srgbClr val="80808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Smoking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657600"/>
            <a:ext cx="1371600" cy="548640"/>
          </a:xfrm>
          <a:prstGeom prst="roundRect">
            <a:avLst/>
          </a:prstGeom>
          <a:solidFill>
            <a:srgbClr val="000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On Fire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600"/>
            <a:ext cx="164592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400" b="1">
                <a:solidFill>
                  <a:srgbClr val="000000"/>
                </a:solidFill>
              </a:rPr>
              <a:t>Detected States: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</a:rPr>
              <a:t>Detailed Processing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03366"/>
                </a:solidFill>
              </a:rPr>
              <a:t>Data Preparation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286000" cy="731520"/>
          </a:xfrm>
          <a:prstGeom prst="roundRect">
            <a:avLst/>
          </a:prstGeom>
          <a:solidFill>
            <a:srgbClr val="B0C4DE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Collect Images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2286000" cy="731520"/>
          </a:xfrm>
          <a:prstGeom prst="roundRect">
            <a:avLst/>
          </a:prstGeom>
          <a:solidFill>
            <a:srgbClr val="B0C4DE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Manual Crop</a:t>
            </a:r>
          </a:p>
          <a:p>
            <a:pPr algn="ctr"/>
            <a:r>
              <a:rPr sz="1400" b="1">
                <a:solidFill>
                  <a:srgbClr val="000000"/>
                </a:solidFill>
              </a:rPr>
              <a:t>(manual_crop.py)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40"/>
            <a:ext cx="2286000" cy="731520"/>
          </a:xfrm>
          <a:prstGeom prst="roundRect">
            <a:avLst/>
          </a:prstGeom>
          <a:solidFill>
            <a:srgbClr val="B0C4DE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Label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1887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06600"/>
                </a:solidFill>
              </a:rPr>
              <a:t>Model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645920"/>
            <a:ext cx="2286000" cy="731520"/>
          </a:xfrm>
          <a:prstGeom prst="roundRect">
            <a:avLst/>
          </a:prstGeom>
          <a:solidFill>
            <a:srgbClr val="90EE9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Data Augmentation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468880"/>
            <a:ext cx="2286000" cy="731520"/>
          </a:xfrm>
          <a:prstGeom prst="roundRect">
            <a:avLst/>
          </a:prstGeom>
          <a:solidFill>
            <a:srgbClr val="90EE9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Train Classifier</a:t>
            </a:r>
          </a:p>
          <a:p>
            <a:pPr algn="ctr"/>
            <a:r>
              <a:rPr sz="1400" b="1">
                <a:solidFill>
                  <a:srgbClr val="000000"/>
                </a:solidFill>
              </a:rPr>
              <a:t>(MobileNet v2)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3291840"/>
            <a:ext cx="2286000" cy="731520"/>
          </a:xfrm>
          <a:prstGeom prst="roundRect">
            <a:avLst/>
          </a:prstGeom>
          <a:solidFill>
            <a:srgbClr val="90EE9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Model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1887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660000"/>
                </a:solidFill>
              </a:rPr>
              <a:t>Prediction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645920"/>
            <a:ext cx="2286000" cy="731520"/>
          </a:xfrm>
          <a:prstGeom prst="roundRect">
            <a:avLst/>
          </a:prstGeom>
          <a:solidFill>
            <a:srgbClr val="FFB6C1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Load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468880"/>
            <a:ext cx="2286000" cy="731520"/>
          </a:xfrm>
          <a:prstGeom prst="roundRect">
            <a:avLst/>
          </a:prstGeom>
          <a:solidFill>
            <a:srgbClr val="FFB6C1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YOLO Detection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291840"/>
            <a:ext cx="2286000" cy="731520"/>
          </a:xfrm>
          <a:prstGeom prst="roundRect">
            <a:avLst/>
          </a:prstGeom>
          <a:solidFill>
            <a:srgbClr val="FFB6C1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State Prediction</a:t>
            </a:r>
          </a:p>
          <a:p>
            <a:pPr algn="ctr"/>
            <a:r>
              <a:rPr sz="1400" b="1">
                <a:solidFill>
                  <a:srgbClr val="000000"/>
                </a:solidFill>
              </a:rPr>
              <a:t>(predict_veri.py)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5029200"/>
            <a:ext cx="2286000" cy="731520"/>
          </a:xfrm>
          <a:prstGeom prst="roundRect">
            <a:avLst/>
          </a:prstGeom>
          <a:solidFill>
            <a:srgbClr val="DDA0D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Evaluation</a:t>
            </a:r>
          </a:p>
          <a:p>
            <a:pPr algn="ctr"/>
            <a:r>
              <a:rPr sz="1400" b="1">
                <a:solidFill>
                  <a:srgbClr val="000000"/>
                </a:solidFill>
              </a:rPr>
              <a:t>(evaluate_classifier.py)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</a:rPr>
              <a:t>Key Features &amp; Capabilities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4572000" cy="82296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003366"/>
                </a:solidFill>
              </a:rPr>
              <a:t>🎯 Automatic Detection</a:t>
            </a:r>
          </a:p>
          <a:p>
            <a:pPr algn="l"/>
            <a:r>
              <a:rPr sz="1300">
                <a:solidFill>
                  <a:srgbClr val="3C3C3C"/>
                </a:solidFill>
              </a:rPr>
              <a:t>YOLO v8 for pan/pot localization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4572000" cy="82296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003366"/>
                </a:solidFill>
              </a:rPr>
              <a:t>🧠 Lightweight Model</a:t>
            </a:r>
          </a:p>
          <a:p>
            <a:pPr algn="l"/>
            <a:r>
              <a:rPr sz="1300">
                <a:solidFill>
                  <a:srgbClr val="3C3C3C"/>
                </a:solidFill>
              </a:rPr>
              <a:t>MobileNet v2 (3.5M params)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83280"/>
            <a:ext cx="4572000" cy="82296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003366"/>
                </a:solidFill>
              </a:rPr>
              <a:t>📊 High Accuracy</a:t>
            </a:r>
          </a:p>
          <a:p>
            <a:pPr algn="l"/>
            <a:r>
              <a:rPr sz="1300">
                <a:solidFill>
                  <a:srgbClr val="3C3C3C"/>
                </a:solidFill>
              </a:rPr>
              <a:t>100% on training 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4572000" cy="82296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003366"/>
                </a:solidFill>
              </a:rPr>
              <a:t>🖼️ Visual Feedback</a:t>
            </a:r>
          </a:p>
          <a:p>
            <a:pPr algn="l"/>
            <a:r>
              <a:rPr sz="1300">
                <a:solidFill>
                  <a:srgbClr val="3C3C3C"/>
                </a:solidFill>
              </a:rPr>
              <a:t>Green wireframe marking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572000" cy="82296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003366"/>
                </a:solidFill>
              </a:rPr>
              <a:t>🎨 Color Optimized</a:t>
            </a:r>
          </a:p>
          <a:p>
            <a:pPr algn="l"/>
            <a:r>
              <a:rPr sz="1300">
                <a:solidFill>
                  <a:srgbClr val="3C3C3C"/>
                </a:solidFill>
              </a:rPr>
              <a:t>Preserves critical color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383280"/>
            <a:ext cx="4572000" cy="82296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003366"/>
                </a:solidFill>
              </a:rPr>
              <a:t>⚡ Fast Inference</a:t>
            </a:r>
          </a:p>
          <a:p>
            <a:pPr algn="l"/>
            <a:r>
              <a:rPr sz="1300">
                <a:solidFill>
                  <a:srgbClr val="3C3C3C"/>
                </a:solidFill>
              </a:rPr>
              <a:t>Optimized for edge devices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</a:rPr>
              <a:t>Model Performance &amp; Predictions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2743200" cy="1097280"/>
          </a:xfrm>
          <a:prstGeom prst="roundRect">
            <a:avLst/>
          </a:prstGeom>
          <a:solidFill>
            <a:srgbClr val="4CAF50"/>
          </a:solidFill>
          <a:ln w="25400">
            <a:solidFill>
              <a:srgbClr val="388E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Training Accuracy</a:t>
            </a:r>
          </a:p>
          <a:p>
            <a:pPr algn="ctr"/>
            <a:r>
              <a:rPr sz="48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097280"/>
            <a:ext cx="3657600" cy="1097280"/>
          </a:xfrm>
          <a:prstGeom prst="roundRect">
            <a:avLst/>
          </a:prstGeom>
          <a:solidFill>
            <a:srgbClr val="2196F3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Model Architecture</a:t>
            </a:r>
          </a:p>
          <a:p>
            <a:pPr algn="ctr"/>
            <a:r>
              <a:rPr sz="2400" b="1">
                <a:solidFill>
                  <a:srgbClr val="FFFFFF"/>
                </a:solidFill>
              </a:rPr>
              <a:t>MobileNet v2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~3.5M 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1097280"/>
            <a:ext cx="3200400" cy="1097280"/>
          </a:xfrm>
          <a:prstGeom prst="roundRect">
            <a:avLst/>
          </a:prstGeom>
          <a:solidFill>
            <a:srgbClr val="FF9800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Verification Set</a:t>
            </a:r>
          </a:p>
          <a:p>
            <a:pPr algn="ctr"/>
            <a:r>
              <a:rPr sz="3600" b="1">
                <a:solidFill>
                  <a:srgbClr val="FFFFFF"/>
                </a:solidFill>
              </a:rPr>
              <a:t>100% (4/4)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366"/>
                </a:solidFill>
              </a:rPr>
              <a:t>Sample Predictions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/>
              <a:t>cooking-pot_normal_01.jpg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834640"/>
            <a:ext cx="1828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/>
              <a:t>Pred: normal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834640"/>
            <a:ext cx="13716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/>
              <a:t>36.2%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834640"/>
            <a:ext cx="5486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>
                <a:solidFill>
                  <a:srgbClr val="4CAF50"/>
                </a:solidFill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/>
              <a:t>frying-pan_boiling_01.jpg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383280"/>
            <a:ext cx="1828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/>
              <a:t>Pred: boiling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13716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/>
              <a:t>66.5%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383280"/>
            <a:ext cx="5486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>
                <a:solidFill>
                  <a:srgbClr val="4CAF50"/>
                </a:solidFill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31920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/>
              <a:t>frying-pan_on-fire_01.jpg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/>
              <a:t>Pred: on_fire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931920"/>
            <a:ext cx="13716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/>
              <a:t>54.3%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931920"/>
            <a:ext cx="5486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>
                <a:solidFill>
                  <a:srgbClr val="4CAF50"/>
                </a:solidFill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100"/>
              <a:t>frying-pan_smoking_01.jpg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480560"/>
            <a:ext cx="1828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/>
              <a:t>Pred: smoking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480560"/>
            <a:ext cx="13716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/>
              <a:t>42.8%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480560"/>
            <a:ext cx="5486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>
                <a:solidFill>
                  <a:srgbClr val="4CAF50"/>
                </a:solidFill>
              </a:rPr>
              <a:t>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</a:rPr>
              <a:t>Marked Detection Results</a:t>
            </a:r>
          </a:p>
        </p:txBody>
      </p:sp>
      <p:pic>
        <p:nvPicPr>
          <p:cNvPr id="3" name="Picture 2" descr="cooking-pot_normal_01_mark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2725337" cy="2377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520440"/>
            <a:ext cx="272533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505050"/>
                </a:solidFill>
              </a:rPr>
              <a:t>cooking-pot normal 01</a:t>
            </a:r>
          </a:p>
        </p:txBody>
      </p:sp>
      <p:pic>
        <p:nvPicPr>
          <p:cNvPr id="5" name="Picture 4" descr="frying-pan_boiling_01_mark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097280"/>
            <a:ext cx="2725337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3520440"/>
            <a:ext cx="272533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505050"/>
                </a:solidFill>
              </a:rPr>
              <a:t>frying-pan boiling 01</a:t>
            </a:r>
          </a:p>
        </p:txBody>
      </p:sp>
      <p:pic>
        <p:nvPicPr>
          <p:cNvPr id="7" name="Picture 6" descr="frying-pan_on-fire_01_mark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40480"/>
            <a:ext cx="2725337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263640"/>
            <a:ext cx="272533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505050"/>
                </a:solidFill>
              </a:rPr>
              <a:t>frying-pan on-fire 01</a:t>
            </a:r>
          </a:p>
        </p:txBody>
      </p:sp>
      <p:pic>
        <p:nvPicPr>
          <p:cNvPr id="9" name="Picture 8" descr="frying-pan_smoking_01_marke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3840480"/>
            <a:ext cx="2725337" cy="2377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0" y="6263640"/>
            <a:ext cx="272533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505050"/>
                </a:solidFill>
              </a:rPr>
              <a:t>frying-pan smoking 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