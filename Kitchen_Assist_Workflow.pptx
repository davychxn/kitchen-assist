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3366"/>
                </a:solidFill>
              </a:rPr>
              <a:t>Pan/Pot State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646464"/>
                </a:solidFill>
              </a:rPr>
              <a:t>MobileNet v2 Powered Kitchen Safety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389120"/>
            <a:ext cx="2286000" cy="548640"/>
          </a:xfrm>
          <a:prstGeom prst="roundRect">
            <a:avLst/>
          </a:prstGeom>
          <a:solidFill>
            <a:srgbClr val="4CAF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100% Training &amp;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389120"/>
            <a:ext cx="2286000" cy="548640"/>
          </a:xfrm>
          <a:prstGeom prst="roundRect">
            <a:avLst/>
          </a:prstGeom>
          <a:solidFill>
            <a:srgbClr val="2196F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Hybrid Circle + YOLO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389120"/>
            <a:ext cx="2286000" cy="548640"/>
          </a:xfrm>
          <a:prstGeom prst="roundRect">
            <a:avLst/>
          </a:prstGeom>
          <a:solidFill>
            <a:srgbClr val="FF98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MobileNet v2 - 3.5M Params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</a:rPr>
              <a:t>System Workflow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2476" y="1828800"/>
            <a:ext cx="2011680" cy="914400"/>
          </a:xfrm>
          <a:prstGeom prst="roundRect">
            <a:avLst/>
          </a:prstGeom>
          <a:solidFill>
            <a:srgbClr val="6495E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Input Image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(Kitchen Camera)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99916" y="1828800"/>
            <a:ext cx="2011680" cy="914400"/>
          </a:xfrm>
          <a:prstGeom prst="roundRect">
            <a:avLst/>
          </a:prstGeom>
          <a:solidFill>
            <a:srgbClr val="FFA50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Object Detection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(Circle + YOLO)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7356" y="1828800"/>
            <a:ext cx="2011680" cy="914400"/>
          </a:xfrm>
          <a:prstGeom prst="roundRect">
            <a:avLst/>
          </a:prstGeom>
          <a:solidFill>
            <a:srgbClr val="32CD32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State Classification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(MobileNet v2)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54796" y="1828800"/>
            <a:ext cx="2011680" cy="914400"/>
          </a:xfrm>
          <a:prstGeom prst="roundRect">
            <a:avLst/>
          </a:prstGeom>
          <a:solidFill>
            <a:srgbClr val="DC143C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Output Result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(with Marking)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34156.0" y="2286000.0"/>
            <a:ext cx="365760.0" cy="0.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11596.0" y="2286000.0"/>
            <a:ext cx="365760.0" cy="0.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89036.0" y="2286000.0"/>
            <a:ext cx="365760.0" cy="0.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3657600"/>
            <a:ext cx="1371600" cy="548640"/>
          </a:xfrm>
          <a:prstGeom prst="roundRect">
            <a:avLst/>
          </a:prstGeom>
          <a:solidFill>
            <a:srgbClr val="00FF0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657600"/>
            <a:ext cx="1371600" cy="548640"/>
          </a:xfrm>
          <a:prstGeom prst="roundRect">
            <a:avLst/>
          </a:prstGeom>
          <a:solidFill>
            <a:srgbClr val="FFFF0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Boiling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657600"/>
            <a:ext cx="1371600" cy="548640"/>
          </a:xfrm>
          <a:prstGeom prst="roundRect">
            <a:avLst/>
          </a:prstGeom>
          <a:solidFill>
            <a:srgbClr val="80808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Smoking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657600"/>
            <a:ext cx="1371600" cy="548640"/>
          </a:xfrm>
          <a:prstGeom prst="roundRect">
            <a:avLst/>
          </a:prstGeom>
          <a:solidFill>
            <a:srgbClr val="0000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On Fire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645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</a:rPr>
              <a:t>Detected States: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</a:rPr>
              <a:t>Detailed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</a:rPr>
              <a:t>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731520"/>
          </a:xfrm>
          <a:prstGeom prst="roundRect">
            <a:avLst/>
          </a:prstGeom>
          <a:solidFill>
            <a:srgbClr val="B0C4DE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Collect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286000" cy="731520"/>
          </a:xfrm>
          <a:prstGeom prst="roundRect">
            <a:avLst/>
          </a:prstGeom>
          <a:solidFill>
            <a:srgbClr val="B0C4DE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Manual Crop</a:t>
            </a:r>
          </a:p>
          <a:p>
            <a:pPr algn="ctr"/>
            <a:r>
              <a:rPr sz="1400" b="1">
                <a:solidFill>
                  <a:srgbClr val="000000"/>
                </a:solidFill>
              </a:rPr>
              <a:t>(manual_crop.py)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2286000" cy="731520"/>
          </a:xfrm>
          <a:prstGeom prst="roundRect">
            <a:avLst/>
          </a:prstGeom>
          <a:solidFill>
            <a:srgbClr val="B0C4DE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Label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6600"/>
                </a:solidFill>
              </a:rPr>
              <a:t>Model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2286000" cy="731520"/>
          </a:xfrm>
          <a:prstGeom prst="roundRect">
            <a:avLst/>
          </a:prstGeom>
          <a:solidFill>
            <a:srgbClr val="90EE9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Data Augmentation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468880"/>
            <a:ext cx="2286000" cy="731520"/>
          </a:xfrm>
          <a:prstGeom prst="roundRect">
            <a:avLst/>
          </a:prstGeom>
          <a:solidFill>
            <a:srgbClr val="90EE9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Train Classifier</a:t>
            </a:r>
          </a:p>
          <a:p>
            <a:pPr algn="ctr"/>
            <a:r>
              <a:rPr sz="1400" b="1">
                <a:solidFill>
                  <a:srgbClr val="000000"/>
                </a:solidFill>
              </a:rPr>
              <a:t>(MobileNet v2)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291840"/>
            <a:ext cx="2286000" cy="731520"/>
          </a:xfrm>
          <a:prstGeom prst="roundRect">
            <a:avLst/>
          </a:prstGeom>
          <a:solidFill>
            <a:srgbClr val="90EE90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Model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60000"/>
                </a:solidFill>
              </a:rPr>
              <a:t>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45920"/>
            <a:ext cx="2286000" cy="731520"/>
          </a:xfrm>
          <a:prstGeom prst="roundRect">
            <a:avLst/>
          </a:prstGeom>
          <a:solidFill>
            <a:srgbClr val="FFB6C1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Load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468880"/>
            <a:ext cx="2286000" cy="731520"/>
          </a:xfrm>
          <a:prstGeom prst="roundRect">
            <a:avLst/>
          </a:prstGeom>
          <a:solidFill>
            <a:srgbClr val="FFB6C1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YOLO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291840"/>
            <a:ext cx="2286000" cy="731520"/>
          </a:xfrm>
          <a:prstGeom prst="roundRect">
            <a:avLst/>
          </a:prstGeom>
          <a:solidFill>
            <a:srgbClr val="FFB6C1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State Prediction</a:t>
            </a:r>
          </a:p>
          <a:p>
            <a:pPr algn="ctr"/>
            <a:r>
              <a:rPr sz="1400" b="1">
                <a:solidFill>
                  <a:srgbClr val="000000"/>
                </a:solidFill>
              </a:rPr>
              <a:t>(predict_veri.py)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5029200"/>
            <a:ext cx="2286000" cy="731520"/>
          </a:xfrm>
          <a:prstGeom prst="roundRect">
            <a:avLst/>
          </a:prstGeom>
          <a:solidFill>
            <a:srgbClr val="DDA0DD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Evaluation</a:t>
            </a:r>
          </a:p>
          <a:p>
            <a:pPr algn="ctr"/>
            <a:r>
              <a:rPr sz="1400" b="1">
                <a:solidFill>
                  <a:srgbClr val="000000"/>
                </a:solidFill>
              </a:rPr>
              <a:t>(evaluate_classifier.py)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</a:rPr>
              <a:t>Key Features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572000" cy="82296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3366"/>
                </a:solidFill>
              </a:rPr>
              <a:t>🎯 Hybrid Detection</a:t>
            </a:r>
          </a:p>
          <a:p>
            <a:pPr algn="l"/>
            <a:r>
              <a:rPr sz="1300">
                <a:solidFill>
                  <a:srgbClr val="3C3C3C"/>
                </a:solidFill>
              </a:rPr>
              <a:t>Circle detection + YOLO v8 fallback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4572000" cy="82296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3366"/>
                </a:solidFill>
              </a:rPr>
              <a:t>🧠 Lightweight Model</a:t>
            </a:r>
          </a:p>
          <a:p>
            <a:pPr algn="l"/>
            <a:r>
              <a:rPr sz="1300">
                <a:solidFill>
                  <a:srgbClr val="3C3C3C"/>
                </a:solidFill>
              </a:rPr>
              <a:t>MobileNet v2 (3.5M params)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4572000" cy="82296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3366"/>
                </a:solidFill>
              </a:rPr>
              <a:t>📊 High Accuracy</a:t>
            </a:r>
          </a:p>
          <a:p>
            <a:pPr algn="l"/>
            <a:r>
              <a:rPr sz="1300">
                <a:solidFill>
                  <a:srgbClr val="3C3C3C"/>
                </a:solidFill>
              </a:rPr>
              <a:t>100% training &amp;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4572000" cy="82296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3366"/>
                </a:solidFill>
              </a:rPr>
              <a:t>🖼️ Accurate Wireframes</a:t>
            </a:r>
          </a:p>
          <a:p>
            <a:pPr algn="l"/>
            <a:r>
              <a:rPr sz="1300">
                <a:solidFill>
                  <a:srgbClr val="3C3C3C"/>
                </a:solidFill>
              </a:rPr>
              <a:t>Tight fit around circular cookware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4572000" cy="82296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3366"/>
                </a:solidFill>
              </a:rPr>
              <a:t>🎨 Color Optimized</a:t>
            </a:r>
          </a:p>
          <a:p>
            <a:pPr algn="l"/>
            <a:r>
              <a:rPr sz="1300">
                <a:solidFill>
                  <a:srgbClr val="3C3C3C"/>
                </a:solidFill>
              </a:rPr>
              <a:t>Preserves critical color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83280"/>
            <a:ext cx="4572000" cy="82296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003366"/>
                </a:solidFill>
              </a:rPr>
              <a:t>⚡ Fast Inference</a:t>
            </a:r>
          </a:p>
          <a:p>
            <a:pPr algn="l"/>
            <a:r>
              <a:rPr sz="1300">
                <a:solidFill>
                  <a:srgbClr val="3C3C3C"/>
                </a:solidFill>
              </a:rPr>
              <a:t>Optimized for edge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</a:rPr>
              <a:t>Model Performance &amp; Predictions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743200" cy="10972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Training Accuracy</a:t>
            </a:r>
          </a:p>
          <a:p>
            <a:pPr algn="ctr"/>
            <a:r>
              <a:rPr sz="48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097280"/>
            <a:ext cx="3657600" cy="109728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Model Architecture</a:t>
            </a:r>
          </a:p>
          <a:p>
            <a:pPr algn="ctr"/>
            <a:r>
              <a:rPr sz="2400" b="1">
                <a:solidFill>
                  <a:srgbClr val="FFFFFF"/>
                </a:solidFill>
              </a:rPr>
              <a:t>MobileNet v2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~3.5M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097280"/>
            <a:ext cx="3200400" cy="10972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Verification Set</a:t>
            </a:r>
          </a:p>
          <a:p>
            <a:pPr algn="ctr"/>
            <a:r>
              <a:rPr sz="3600" b="1">
                <a:solidFill>
                  <a:srgbClr val="FFFFFF"/>
                </a:solidFill>
              </a:rPr>
              <a:t>100% (4/4)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</a:rPr>
              <a:t>Sample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/>
              <a:t>cooking-pot_normal_01.jpg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83464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/>
              <a:t>Pred: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83464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/>
              <a:t>36.2%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83464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/>
              <a:t>frying-pan_boiling_01.jpg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8328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/>
              <a:t>Pred: boiling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/>
              <a:t>66.5%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38328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/>
              <a:t>frying-pan_on-fire_01.jpg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3192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/>
              <a:t>Pred: on_fire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93192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/>
              <a:t>54.3%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93192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/>
              <a:t>frying-pan_smoking_01.jpg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8056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/>
              <a:t>Pred: smoking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48056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/>
              <a:t>42.8%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48056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CAF50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</a:rPr>
              <a:t>Marked Detection Results</a:t>
            </a:r>
          </a:p>
        </p:txBody>
      </p:sp>
      <p:pic>
        <p:nvPicPr>
          <p:cNvPr id="3" name="Picture 2" descr="cooking-pot_normal_01_mark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2725337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520440"/>
            <a:ext cx="27253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05050"/>
                </a:solidFill>
              </a:rPr>
              <a:t>cooking-pot normal 01</a:t>
            </a:r>
          </a:p>
        </p:txBody>
      </p:sp>
      <p:pic>
        <p:nvPicPr>
          <p:cNvPr id="5" name="Picture 4" descr="frying-pan_boiling_01_mark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97280"/>
            <a:ext cx="2725337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3520440"/>
            <a:ext cx="27253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05050"/>
                </a:solidFill>
              </a:rPr>
              <a:t>frying-pan boiling 01</a:t>
            </a:r>
          </a:p>
        </p:txBody>
      </p:sp>
      <p:pic>
        <p:nvPicPr>
          <p:cNvPr id="7" name="Picture 6" descr="frying-pan_on-fire_01_mark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2725337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63640"/>
            <a:ext cx="27253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05050"/>
                </a:solidFill>
              </a:rPr>
              <a:t>frying-pan on-fire 01</a:t>
            </a:r>
          </a:p>
        </p:txBody>
      </p:sp>
      <p:pic>
        <p:nvPicPr>
          <p:cNvPr id="9" name="Picture 8" descr="frying-pan_smoking_01_mark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840480"/>
            <a:ext cx="2725337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6263640"/>
            <a:ext cx="272533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05050"/>
                </a:solidFill>
              </a:rPr>
              <a:t>frying-pan smoking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